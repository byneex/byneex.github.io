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RobotoMono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19" Type="http://schemas.openxmlformats.org/officeDocument/2006/relationships/font" Target="fonts/RobotoMono-bold.fntdata"/><Relationship Id="rId1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c070f854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bc070f854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2.jp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5812" y="4411860"/>
            <a:ext cx="3000375" cy="13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2625" y="1070669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762" y="2118419"/>
            <a:ext cx="1218247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Reconstruction de Courbes de Charge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Challenge Enedis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95850" y="4749726"/>
            <a:ext cx="30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Intelligence Artificielle</a:t>
            </a:r>
            <a:endParaRPr sz="1100"/>
          </a:p>
        </p:txBody>
      </p:sp>
      <p:sp>
        <p:nvSpPr>
          <p:cNvPr id="89" name="Google Shape;89;p13"/>
          <p:cNvSpPr txBox="1"/>
          <p:nvPr/>
        </p:nvSpPr>
        <p:spPr>
          <a:xfrm>
            <a:off x="4891050" y="5172110"/>
            <a:ext cx="24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43025"/>
            <a:ext cx="54197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4890789"/>
            <a:ext cx="5419725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9650" y="295275"/>
            <a:ext cx="3000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Contexte &amp; Objectif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134600" y="342900"/>
            <a:ext cx="1571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I. Introduction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286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85775" y="1547961"/>
            <a:ext cx="569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Le Défi Enedis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2205186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38 Millions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compteurs Linky.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2713732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Problème : Pertes de données techniques (transmission, stockage) créant des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"trous"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3587948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Mission 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Reconstruire les données manquantes de manière réaliste.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4375" y="5081289"/>
            <a:ext cx="9429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Donn</a:t>
            </a:r>
            <a:r>
              <a:rPr b="1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ées :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4375" y="5300364"/>
            <a:ext cx="1047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Métrique :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85775" y="2157561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85775" y="2666107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85775" y="3540323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538163" y="3097425"/>
            <a:ext cx="4916400" cy="1712400"/>
          </a:xfrm>
          <a:prstGeom prst="roundRect">
            <a:avLst>
              <a:gd fmla="val 16667" name="adj"/>
            </a:avLst>
          </a:prstGeom>
          <a:solidFill>
            <a:srgbClr val="64748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title="outpu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7075" y="3189599"/>
            <a:ext cx="4721478" cy="162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67663" y="2157550"/>
            <a:ext cx="445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Courbe ‘Holed_1’ sur les 24 premères heures</a:t>
            </a:r>
            <a:endParaRPr sz="1800">
              <a:solidFill>
                <a:srgbClr val="CBD5E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62875"/>
            <a:ext cx="5419725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780202"/>
            <a:ext cx="54197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33450" y="295275"/>
            <a:ext cx="355044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Stratégie &amp; Benchmark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544175" y="342900"/>
            <a:ext cx="147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II. Analyse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286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85775" y="1519182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Benchmark : Interpolation Linéaire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85775" y="2176407"/>
            <a:ext cx="541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Méthode géométrique simple fournie par défaut.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85775" y="4999527"/>
            <a:ext cx="5419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Objectif : Comprendre la "logique" électrique, pas juste la géométrie.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4975" y="3075477"/>
            <a:ext cx="507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Limites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81050" y="3361227"/>
            <a:ext cx="482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Trace une ligne droite entre A et B.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81050" y="3666027"/>
            <a:ext cx="48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Incapable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capturer les pics de consommation (allumage d'appareils, chauffage).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091677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525" y="1297000"/>
            <a:ext cx="5561675" cy="4621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5">
            <a:alphaModFix/>
          </a:blip>
          <a:srcRect b="14670" l="0" r="0" t="14663"/>
          <a:stretch/>
        </p:blipFill>
        <p:spPr>
          <a:xfrm>
            <a:off x="6286500" y="1778925"/>
            <a:ext cx="5419725" cy="36579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33450" y="295275"/>
            <a:ext cx="416052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Tentative 1 : Deep Learning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696575" y="342900"/>
            <a:ext cx="1009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III. Échec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286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85775" y="1709857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Architecture TensorFlow (MLP)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2367082"/>
            <a:ext cx="51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Approche "Fenêtre glissante" (Windowing).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2875627"/>
            <a:ext cx="51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Entrée : 6 points avant + 6 points après.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3384173"/>
            <a:ext cx="51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Couches Dense (128, 64, 32 neurones).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5775" y="2315773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85775" y="2824318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85775" y="3332864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85775" y="4117423"/>
            <a:ext cx="329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Problème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47763" y="4592557"/>
            <a:ext cx="5133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 réseau de neurones est moins performant pour prédire des grandes plages de données manquantes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191750" y="342900"/>
            <a:ext cx="187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IV. Technique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91972" y="1969987"/>
            <a:ext cx="60399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8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Méthode d</a:t>
            </a:r>
            <a:r>
              <a:rPr b="1" lang="en-US" sz="2228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 base</a:t>
            </a:r>
            <a:endParaRPr sz="1485"/>
          </a:p>
        </p:txBody>
      </p:sp>
      <p:sp>
        <p:nvSpPr>
          <p:cNvPr id="155" name="Google Shape;155;p17"/>
          <p:cNvSpPr/>
          <p:nvPr/>
        </p:nvSpPr>
        <p:spPr>
          <a:xfrm>
            <a:off x="526840" y="258058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52477" y="2550221"/>
            <a:ext cx="1860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Modèle Unique</a:t>
            </a:r>
            <a:endParaRPr sz="1485"/>
          </a:p>
        </p:txBody>
      </p:sp>
      <p:sp>
        <p:nvSpPr>
          <p:cNvPr id="157" name="Google Shape;157;p17"/>
          <p:cNvSpPr txBox="1"/>
          <p:nvPr/>
        </p:nvSpPr>
        <p:spPr>
          <a:xfrm>
            <a:off x="535567" y="2901060"/>
            <a:ext cx="5428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Prend ses propres décisions en divisant les données étape par étape.</a:t>
            </a:r>
            <a:endParaRPr sz="1485"/>
          </a:p>
        </p:txBody>
      </p:sp>
      <p:sp>
        <p:nvSpPr>
          <p:cNvPr id="158" name="Google Shape;158;p17"/>
          <p:cNvSpPr/>
          <p:nvPr/>
        </p:nvSpPr>
        <p:spPr>
          <a:xfrm>
            <a:off x="526840" y="3772946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52477" y="3745642"/>
            <a:ext cx="26286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 régression</a:t>
            </a:r>
            <a:endParaRPr sz="1485"/>
          </a:p>
        </p:txBody>
      </p:sp>
      <p:sp>
        <p:nvSpPr>
          <p:cNvPr id="160" name="Google Shape;160;p17"/>
          <p:cNvSpPr txBox="1"/>
          <p:nvPr/>
        </p:nvSpPr>
        <p:spPr>
          <a:xfrm>
            <a:off x="535567" y="4096876"/>
            <a:ext cx="5428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L’objectif est de prédire une valeur continue (un nombre) prenant n’importe qu’elle valeur dans une plage</a:t>
            </a:r>
            <a:endParaRPr sz="1485"/>
          </a:p>
        </p:txBody>
      </p:sp>
      <p:sp>
        <p:nvSpPr>
          <p:cNvPr id="161" name="Google Shape;161;p17"/>
          <p:cNvSpPr/>
          <p:nvPr/>
        </p:nvSpPr>
        <p:spPr>
          <a:xfrm>
            <a:off x="526840" y="495451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52477" y="4929404"/>
            <a:ext cx="2819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Problème d’overfitting</a:t>
            </a:r>
            <a:endParaRPr sz="1485"/>
          </a:p>
        </p:txBody>
      </p:sp>
      <p:sp>
        <p:nvSpPr>
          <p:cNvPr id="163" name="Google Shape;163;p17"/>
          <p:cNvSpPr txBox="1"/>
          <p:nvPr/>
        </p:nvSpPr>
        <p:spPr>
          <a:xfrm>
            <a:off x="384800" y="5345921"/>
            <a:ext cx="54288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1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Modèle très sensible aux variations des données </a:t>
            </a:r>
            <a:endParaRPr sz="1592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=&gt; </a:t>
            </a: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surapprentissage</a:t>
            </a:r>
            <a:r>
              <a:rPr lang="en-US" sz="159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(Overfitting)</a:t>
            </a:r>
            <a:endParaRPr sz="1485"/>
          </a:p>
        </p:txBody>
      </p:sp>
      <p:sp>
        <p:nvSpPr>
          <p:cNvPr id="164" name="Google Shape;164;p17"/>
          <p:cNvSpPr txBox="1"/>
          <p:nvPr/>
        </p:nvSpPr>
        <p:spPr>
          <a:xfrm>
            <a:off x="895350" y="295275"/>
            <a:ext cx="70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Tentative </a:t>
            </a:r>
            <a:r>
              <a:rPr b="1"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b="1"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Arbre de Décision par Régression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286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2078" y="3141775"/>
            <a:ext cx="3534036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734082" y="3387297"/>
            <a:ext cx="2790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9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126</a:t>
            </a:r>
            <a:r>
              <a:rPr b="1" lang="en-US" sz="4059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.32</a:t>
            </a:r>
            <a:endParaRPr sz="1804">
              <a:solidFill>
                <a:srgbClr val="EF4444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8031685" y="4012122"/>
            <a:ext cx="219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46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MAE (WATTS)</a:t>
            </a:r>
            <a:endParaRPr sz="1804"/>
          </a:p>
        </p:txBody>
      </p:sp>
      <p:sp>
        <p:nvSpPr>
          <p:cNvPr id="169" name="Google Shape;169;p17"/>
          <p:cNvSpPr txBox="1"/>
          <p:nvPr/>
        </p:nvSpPr>
        <p:spPr>
          <a:xfrm>
            <a:off x="7734082" y="4381661"/>
            <a:ext cx="2790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9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Score Hackathon</a:t>
            </a:r>
            <a:endParaRPr sz="1804">
              <a:solidFill>
                <a:srgbClr val="EF444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29648" l="0" r="0" t="27974"/>
          <a:stretch/>
        </p:blipFill>
        <p:spPr>
          <a:xfrm>
            <a:off x="6176475" y="1503200"/>
            <a:ext cx="541972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0191750" y="342900"/>
            <a:ext cx="187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IV. Technique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85775" y="1503212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Méthode d'Ensemble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26840" y="2179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90575" y="2160437"/>
            <a:ext cx="17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Arbres de Décision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26850" y="2457812"/>
            <a:ext cx="51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Modifiable avec le paramètre n_estimators de la fonction RandomForestResgressor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26840" y="326533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90575" y="3246287"/>
            <a:ext cx="24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Entraînement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26850" y="3543662"/>
            <a:ext cx="51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Chaque arbre s'entraîne sur un sous-ensemble aléatoire de données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et prend la moyenne de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tous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les arbres.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26840" y="43511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90575" y="4332137"/>
            <a:ext cx="16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Avantages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384800" y="4629512"/>
            <a:ext cx="51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Moins d’overtfitting, plus stable, meilleure corrélations entre les colonnes…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895350" y="295275"/>
            <a:ext cx="42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Tentative </a:t>
            </a:r>
            <a:r>
              <a:rPr b="1"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: Random Forest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069" y="3286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150" y="32753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ifie le code et ajoute celui ci a la place : &#10;X_explicatives = X_test_clean.iloc[:, :n]&#10;colonnes_trouees = X_test_clean.columns[-1000:]&#10;...&#10;model = RandomForestRegressor(n_estimators=25, max_depth=15, &#10;         random_state=42,n_jobs=-1)&#10;model.fit(X_train_courante, y_train_courante)&#10;valeurs_predites = model.predict(X_predict_courante)" id="190" name="Google Shape;190;p18"/>
          <p:cNvPicPr preferRelativeResize="0"/>
          <p:nvPr/>
        </p:nvPicPr>
        <p:blipFill rotWithShape="1">
          <a:blip r:embed="rId6">
            <a:alphaModFix/>
          </a:blip>
          <a:srcRect b="18361" l="18370" r="18654" t="51461"/>
          <a:stretch/>
        </p:blipFill>
        <p:spPr>
          <a:xfrm>
            <a:off x="6575150" y="3889200"/>
            <a:ext cx="4622374" cy="21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485765" y="543703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749500" y="5417987"/>
            <a:ext cx="16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Inconvénients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384800" y="5715362"/>
            <a:ext cx="51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Peut vite devenir long à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l'exécution (lourd en calcul)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81550"/>
            <a:ext cx="5419725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638" y="4146975"/>
            <a:ext cx="27420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971550" y="295275"/>
            <a:ext cx="2550318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Résultats Finaux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906000" y="342900"/>
            <a:ext cx="1800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IV. Performance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2861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485775" y="1992229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Performance Optimale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85775" y="2649454"/>
            <a:ext cx="54198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 modèle capture les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effets de paliers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(sauts de consommation) là où le Deep Learning lissait trop.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Voici les résultats sur </a:t>
            </a:r>
            <a:r>
              <a:rPr i="1" lang="en-US" sz="1800" u="sng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50 courbes aléatoires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endParaRPr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2113277" y="4337475"/>
            <a:ext cx="216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89.7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344189" y="4822275"/>
            <a:ext cx="17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MAE (WATTS)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2113277" y="5109000"/>
            <a:ext cx="216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Division par 2 de l'erreur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6296025"/>
            <a:ext cx="121729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260625"/>
            <a:ext cx="10382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915915"/>
            <a:ext cx="12858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485775" y="295275"/>
            <a:ext cx="45405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Conclusion &amp; Perspectives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868025" y="342900"/>
            <a:ext cx="838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V. Bilan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85775" y="64960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Merci de votre attention.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85763" y="2460553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Ce qu'il faut retenir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71525" y="3176814"/>
            <a:ext cx="5133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Complexité ≠ Performance 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RF (simple) bat le DL (complexe) sur ce format tabulaire.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71525" y="4051030"/>
            <a:ext cx="5133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Robustesse 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 méthode d'ensemble annule le bruit.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279100" y="2460559"/>
            <a:ext cx="569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Pour aller plus loin...</a:t>
            </a:r>
            <a:endParaRPr>
              <a:solidFill>
                <a:srgbClr val="818CF8"/>
              </a:solidFill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85775" y="3129189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485775" y="4003405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515225" y="3176834"/>
            <a:ext cx="41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Gradient Boosting pour corriger les erreurs séquentielles.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762875" y="3969195"/>
            <a:ext cx="3324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Élargir la fenêtre à 24h (cycle journalier).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